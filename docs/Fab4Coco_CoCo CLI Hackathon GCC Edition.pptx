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D29EC7B3-F5EB-8B53-51A8-5B736812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>
            <a:extLst>
              <a:ext uri="{FF2B5EF4-FFF2-40B4-BE49-F238E27FC236}">
                <a16:creationId xmlns:a16="http://schemas.microsoft.com/office/drawing/2014/main" id="{E48B684A-2089-5AED-4074-FF9E93C43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>
            <a:extLst>
              <a:ext uri="{FF2B5EF4-FFF2-40B4-BE49-F238E27FC236}">
                <a16:creationId xmlns:a16="http://schemas.microsoft.com/office/drawing/2014/main" id="{F5E76499-0328-0748-0CB6-AA82FDA45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291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201CF5E7-A96A-223F-2A36-A48F31EF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>
            <a:extLst>
              <a:ext uri="{FF2B5EF4-FFF2-40B4-BE49-F238E27FC236}">
                <a16:creationId xmlns:a16="http://schemas.microsoft.com/office/drawing/2014/main" id="{99195AFF-BD18-2FDB-9EED-0AA28C4FF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>
            <a:extLst>
              <a:ext uri="{FF2B5EF4-FFF2-40B4-BE49-F238E27FC236}">
                <a16:creationId xmlns:a16="http://schemas.microsoft.com/office/drawing/2014/main" id="{0819352C-17CE-847A-8754-AE7662CEB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864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EC684-E76A-FF7C-D6CA-3696C1CDE3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6F596-D65D-BD3E-9016-FBA6DAD3AC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89712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-GB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Fab4Coco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7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343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Supply Chain Ontology &amp; Governed Conversational Analytics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lvl="0">
              <a:lnSpc>
                <a:spcPct val="80000"/>
              </a:lnSpc>
              <a:buSzPts val="1343"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Dhanushree Soni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4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GB" sz="1442" b="1" i="1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sz="1442" b="1" i="1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sz="1700" b="1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sz="1700" b="1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</a:t>
            </a:r>
            <a:r>
              <a:rPr lang="en-GB" sz="1700" b="0" i="0" u="none" strike="noStrike" cap="none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CoCo</a:t>
            </a: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CLI skills are used and how they connect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sz="1700" b="1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22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5F6481C-D3AC-3B2C-862C-01A880217F04}"/>
              </a:ext>
            </a:extLst>
          </p:cNvPr>
          <p:cNvSpPr/>
          <p:nvPr/>
        </p:nvSpPr>
        <p:spPr>
          <a:xfrm>
            <a:off x="484700" y="560329"/>
            <a:ext cx="4266054" cy="30938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Problem Brief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59918-0B8C-0D6B-F5A8-B2E7FCD796D7}"/>
              </a:ext>
            </a:extLst>
          </p:cNvPr>
          <p:cNvSpPr txBox="1"/>
          <p:nvPr/>
        </p:nvSpPr>
        <p:spPr>
          <a:xfrm>
            <a:off x="388448" y="944102"/>
            <a:ext cx="8367103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What real business problem does this solve?</a:t>
            </a:r>
          </a:p>
          <a:p>
            <a:r>
              <a:rPr lang="en-US" sz="1200" dirty="0"/>
              <a:t>In supply chain, "What's our on-time delivery rate?" gets four different answers depending on who you ask. Procurement, Logistics, Finance and Sales each compute OTD, Fill Rate, Days of Inventory and Landed Cost differently — there is no single source of truth. Every question becomes an analyst ticket and a bespoke SQL query, so insight lags the decision.</a:t>
            </a:r>
          </a:p>
          <a:p>
            <a:endParaRPr lang="en-US" sz="1300" b="1" dirty="0"/>
          </a:p>
          <a:p>
            <a:r>
              <a:rPr lang="en-US" sz="1300" b="1" dirty="0"/>
              <a:t>Who is the target user/persona?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Supply-chain business users (planners, procurement, logistics, finance) who need answers without writing SQL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Data &amp; analytics teams who must guarantee one governed, auditable definition per metric</a:t>
            </a:r>
          </a:p>
          <a:p>
            <a:endParaRPr lang="en-US" sz="1300" b="1" dirty="0"/>
          </a:p>
          <a:p>
            <a:r>
              <a:rPr lang="en-US" sz="1300" b="1" dirty="0"/>
              <a:t>Current pain point → how this improves it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❌ Today: inconsistent numbers, slow analyst-dependent reporting, no lineage or data-quality guarantee, not self-serve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✅ With our solution: one governed ontology, one sanctioned definition per metric, natural-language self-serve answers — with the generated SQL and the definition attached to every result</a:t>
            </a:r>
          </a:p>
          <a:p>
            <a:endParaRPr lang="en-US" sz="1200" b="1" dirty="0"/>
          </a:p>
          <a:p>
            <a:r>
              <a:rPr lang="en-US" sz="1200" b="1" dirty="0"/>
              <a:t>Industry/domain context</a:t>
            </a:r>
          </a:p>
          <a:p>
            <a:r>
              <a:rPr lang="en-US" sz="1200" dirty="0"/>
              <a:t>Supply chain / manufacturing analytics. Built on a canonical model: </a:t>
            </a:r>
          </a:p>
          <a:p>
            <a:r>
              <a:rPr lang="en-US" sz="1200" dirty="0"/>
              <a:t>Supplier → Part → Plant → Shipment → Order → Customer, </a:t>
            </a:r>
          </a:p>
          <a:p>
            <a:r>
              <a:rPr lang="en-US" sz="1200" dirty="0"/>
              <a:t>with embedded real-world scenarios (supplier disruption, demand shock, port congestion, ESG events).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5987EE-235F-05FC-169E-21964753E0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78" b="17260"/>
          <a:stretch>
            <a:fillRect/>
          </a:stretch>
        </p:blipFill>
        <p:spPr>
          <a:xfrm>
            <a:off x="0" y="644980"/>
            <a:ext cx="9144000" cy="40357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B17638-5F47-730F-7979-9551D1EC412C}"/>
              </a:ext>
            </a:extLst>
          </p:cNvPr>
          <p:cNvSpPr/>
          <p:nvPr/>
        </p:nvSpPr>
        <p:spPr>
          <a:xfrm>
            <a:off x="484700" y="560329"/>
            <a:ext cx="4266054" cy="30938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Architecture &amp; </a:t>
            </a:r>
            <a:r>
              <a:rPr lang="en-US" b="1" dirty="0" err="1"/>
              <a:t>CoCo</a:t>
            </a:r>
            <a:r>
              <a:rPr lang="en-US" b="1" dirty="0"/>
              <a:t> CLI Usage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6E84B-45C2-9DA6-5597-E165DB2D782D}"/>
              </a:ext>
            </a:extLst>
          </p:cNvPr>
          <p:cNvSpPr txBox="1"/>
          <p:nvPr/>
        </p:nvSpPr>
        <p:spPr>
          <a:xfrm>
            <a:off x="449464" y="952198"/>
            <a:ext cx="8694536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System design / data flow</a:t>
            </a:r>
          </a:p>
          <a:p>
            <a:r>
              <a:rPr lang="en-US" sz="1000" dirty="0"/>
              <a:t>Source (24 tables, 1.03M rows)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Bronze (24 Dynamic Tables)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Silver (18 objects — cleansed &amp; conformed)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Gold (governed metric tables)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Semantic View  SV_SUPPLY_CHAIN  (4 facts · 18 dimensions · 11 metrics · synonyms)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Cortex Analyst  (natural language → governed SQL, managed service)</a:t>
            </a:r>
          </a:p>
          <a:p>
            <a:pPr marL="285750" indent="-285750">
              <a:buFontTx/>
              <a:buChar char="-"/>
            </a:pPr>
            <a:r>
              <a:rPr lang="en-US" sz="1000" dirty="0" err="1"/>
              <a:t>Streamlit</a:t>
            </a:r>
            <a:r>
              <a:rPr lang="en-US" sz="1000" dirty="0"/>
              <a:t> App  (Dashboard · Ask </a:t>
            </a:r>
            <a:r>
              <a:rPr lang="en-US" sz="1000" dirty="0" err="1"/>
              <a:t>CoCo</a:t>
            </a:r>
            <a:r>
              <a:rPr lang="en-US" sz="1000" dirty="0"/>
              <a:t> · Governance)</a:t>
            </a:r>
          </a:p>
          <a:p>
            <a:pPr marL="285750" indent="-285750">
              <a:buFontTx/>
              <a:buChar char="-"/>
            </a:pPr>
            <a:endParaRPr lang="en-US" sz="1000" dirty="0"/>
          </a:p>
          <a:p>
            <a:r>
              <a:rPr lang="en-US" sz="1000" dirty="0"/>
              <a:t>Cross-cutting: Streams + Tasks + UDFs (orchestration) · DMFs + 6 DQ views (data quality) · Alerts (monitoring) · Metric definitions stored as data (governance)</a:t>
            </a:r>
          </a:p>
          <a:p>
            <a:endParaRPr lang="en-US" sz="1200" dirty="0"/>
          </a:p>
          <a:p>
            <a:r>
              <a:rPr lang="en-US" sz="1200" b="1" dirty="0"/>
              <a:t>How </a:t>
            </a:r>
            <a:r>
              <a:rPr lang="en-US" sz="1200" b="1" dirty="0" err="1"/>
              <a:t>CoCo</a:t>
            </a:r>
            <a:r>
              <a:rPr lang="en-US" sz="1200" b="1" dirty="0"/>
              <a:t> CLI was used (end to end, all 4 phases)</a:t>
            </a:r>
          </a:p>
          <a:p>
            <a:pPr marL="228600" indent="-228600">
              <a:buAutoNum type="arabicPeriod"/>
            </a:pPr>
            <a:r>
              <a:rPr lang="en-US" sz="1000" dirty="0"/>
              <a:t>Ontology &amp; source design — </a:t>
            </a:r>
            <a:r>
              <a:rPr lang="en-US" sz="1000" dirty="0" err="1"/>
              <a:t>CoCo</a:t>
            </a:r>
            <a:r>
              <a:rPr lang="en-US" sz="1000" dirty="0"/>
              <a:t> analyzed Marketplace datasets, defined entities/relationships/governed metrics and the 24-table canonical source layer</a:t>
            </a:r>
          </a:p>
          <a:p>
            <a:pPr marL="228600" indent="-228600">
              <a:buAutoNum type="arabicPeriod"/>
            </a:pPr>
            <a:r>
              <a:rPr lang="en-US" sz="1000" dirty="0"/>
              <a:t>Transformation layer — </a:t>
            </a:r>
            <a:r>
              <a:rPr lang="en-US" sz="1000" dirty="0" err="1"/>
              <a:t>CoCo</a:t>
            </a:r>
            <a:r>
              <a:rPr lang="en-US" sz="1000" dirty="0"/>
              <a:t> generated the </a:t>
            </a:r>
            <a:r>
              <a:rPr lang="en-US" sz="1000" dirty="0" err="1"/>
              <a:t>Bronze→Silver→Gold</a:t>
            </a:r>
            <a:r>
              <a:rPr lang="en-US" sz="1000" dirty="0"/>
              <a:t> Dynamic Tables, UDFs, streams, tasks, data-quality checks</a:t>
            </a:r>
          </a:p>
          <a:p>
            <a:pPr marL="228600" indent="-228600">
              <a:buAutoNum type="arabicPeriod"/>
            </a:pPr>
            <a:r>
              <a:rPr lang="en-US" sz="1000" dirty="0"/>
              <a:t>Semantic view — </a:t>
            </a:r>
            <a:r>
              <a:rPr lang="en-US" sz="1000" dirty="0" err="1"/>
              <a:t>CoCo</a:t>
            </a:r>
            <a:r>
              <a:rPr lang="en-US" sz="1000" dirty="0"/>
              <a:t> built SV_SUPPLY_CHAIN with governed definitions as metric descriptions + synonyms</a:t>
            </a:r>
          </a:p>
          <a:p>
            <a:pPr marL="228600" indent="-228600">
              <a:buAutoNum type="arabicPeriod"/>
            </a:pPr>
            <a:r>
              <a:rPr lang="en-US" sz="1000" dirty="0" err="1"/>
              <a:t>Streamlit</a:t>
            </a:r>
            <a:r>
              <a:rPr lang="en-US" sz="1000" dirty="0"/>
              <a:t> app — </a:t>
            </a:r>
            <a:r>
              <a:rPr lang="en-US" sz="1000" dirty="0" err="1"/>
              <a:t>CoCo</a:t>
            </a:r>
            <a:r>
              <a:rPr lang="en-US" sz="1000" dirty="0"/>
              <a:t> generated the 3-tab Cortex Analyst app and iteratively fixed every runtime issue to a working deploy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r>
              <a:rPr lang="en-US" sz="1000" b="1" dirty="0"/>
              <a:t>Data sources</a:t>
            </a:r>
          </a:p>
          <a:p>
            <a:r>
              <a:rPr lang="en-US" sz="1000" dirty="0"/>
              <a:t>Structured synthetic supply-chain data (deterministic, hash-seeded — fully reproducible), designed from Snowflake Marketplace dataset analysis.</a:t>
            </a:r>
          </a:p>
          <a:p>
            <a:r>
              <a:rPr lang="en-US" sz="1000" b="1" dirty="0"/>
              <a:t>Modular components</a:t>
            </a:r>
          </a:p>
          <a:p>
            <a:r>
              <a:rPr lang="en-US" sz="1000" dirty="0"/>
              <a:t>Each layer plugs into the next through Gold + the semantic view — new metrics, risk/ESG, forecasting, or a Cortex Agent all attach to the same governed foundation with no rework.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5D837445-C663-0D47-7649-25462752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>
            <a:extLst>
              <a:ext uri="{FF2B5EF4-FFF2-40B4-BE49-F238E27FC236}">
                <a16:creationId xmlns:a16="http://schemas.microsoft.com/office/drawing/2014/main" id="{E4F246BC-BA52-DB3A-9365-46F9F5A1F3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77CE2D-FBE2-D065-454C-00A97DF366A9}"/>
              </a:ext>
            </a:extLst>
          </p:cNvPr>
          <p:cNvSpPr/>
          <p:nvPr/>
        </p:nvSpPr>
        <p:spPr>
          <a:xfrm>
            <a:off x="484700" y="560329"/>
            <a:ext cx="4266054" cy="30938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Impact &amp;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951D6-EC16-1B76-FBDE-F8C39216BEBB}"/>
              </a:ext>
            </a:extLst>
          </p:cNvPr>
          <p:cNvSpPr txBox="1"/>
          <p:nvPr/>
        </p:nvSpPr>
        <p:spPr>
          <a:xfrm>
            <a:off x="449464" y="952198"/>
            <a:ext cx="8694536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Measurable outcomes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74.26% overall on-time delivery — the same governed number for every persona (cross-persona consistency = the judged differentiator)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42 / 42 data-quality checks pass (100%) across 5 dimensions (business rules, completeness, uniqueness, referential integrity, freshness)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Self-serve in seconds — natural-language question → answer + SQL + chart, replacing the analyst-ticket cycle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Embedded demand-shock scenario surfaced in one question: OTD drops 85% → 47.5% (Oct 2024) → recovers to ~86% by Jan 2025</a:t>
            </a:r>
          </a:p>
          <a:p>
            <a:endParaRPr lang="en-US" sz="1200" dirty="0"/>
          </a:p>
          <a:p>
            <a:r>
              <a:rPr lang="en-US" sz="1200" b="1" dirty="0"/>
              <a:t>Scalability potential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Runs entirely on Snowflake — Dynamic Tables auto-refresh, warehouse auto-suspends (cost-efficient)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Deterministic model scales from synthetic to live Marketplace or ERP data with no redesign</a:t>
            </a:r>
            <a:endParaRPr lang="en-US" sz="1200" dirty="0"/>
          </a:p>
          <a:p>
            <a:endParaRPr lang="en-US" sz="1000" b="1" dirty="0"/>
          </a:p>
          <a:p>
            <a:r>
              <a:rPr lang="en-US" sz="1200" b="1" dirty="0"/>
              <a:t>How this extends beyond the demo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Extend the semantic view with risk &amp; ESG (sanctions, spend-at-risk, ESG violations)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Demand forecasting via Cortex ML on the clean history series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Business alerts (OTD threshold, stockout risk, supplier-risk escalation)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A Cortex Agent blending governed metrics with unstructured documents</a:t>
            </a:r>
          </a:p>
          <a:p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607800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5ACE9C89-973E-0F3F-995E-751E293F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>
            <a:extLst>
              <a:ext uri="{FF2B5EF4-FFF2-40B4-BE49-F238E27FC236}">
                <a16:creationId xmlns:a16="http://schemas.microsoft.com/office/drawing/2014/main" id="{8E464230-E9EC-B80A-F99A-409F54ED51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46C82F-3398-CD4C-820C-D474076A6CDA}"/>
              </a:ext>
            </a:extLst>
          </p:cNvPr>
          <p:cNvSpPr/>
          <p:nvPr/>
        </p:nvSpPr>
        <p:spPr>
          <a:xfrm>
            <a:off x="484700" y="560329"/>
            <a:ext cx="4266054" cy="30938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Architecture &amp; </a:t>
            </a:r>
            <a:r>
              <a:rPr lang="en-US" b="1" dirty="0" err="1"/>
              <a:t>CoCo</a:t>
            </a:r>
            <a:r>
              <a:rPr lang="en-US" b="1" dirty="0"/>
              <a:t> CLI Usage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43EDA-F955-EDA4-ACBD-B2D096C63495}"/>
              </a:ext>
            </a:extLst>
          </p:cNvPr>
          <p:cNvSpPr txBox="1"/>
          <p:nvPr/>
        </p:nvSpPr>
        <p:spPr>
          <a:xfrm>
            <a:off x="449464" y="952198"/>
            <a:ext cx="8694536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System design / data flow</a:t>
            </a:r>
          </a:p>
          <a:p>
            <a:r>
              <a:rPr lang="en-US" sz="1000" dirty="0"/>
              <a:t>Source (24 tables, 1.03M rows)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Bronze (24 Dynamic Tables)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Silver (18 objects — cleansed &amp; conformed)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Gold (governed metric tables)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Semantic View  SV_SUPPLY_CHAIN  (4 facts · 18 dimensions · 11 metrics · synonyms)</a:t>
            </a:r>
          </a:p>
          <a:p>
            <a:pPr marL="285750" indent="-285750">
              <a:buFontTx/>
              <a:buChar char="-"/>
            </a:pPr>
            <a:r>
              <a:rPr lang="en-US" sz="1000" dirty="0"/>
              <a:t>Cortex Analyst  (natural language → governed SQL, managed service)</a:t>
            </a:r>
          </a:p>
          <a:p>
            <a:pPr marL="285750" indent="-285750">
              <a:buFontTx/>
              <a:buChar char="-"/>
            </a:pPr>
            <a:r>
              <a:rPr lang="en-US" sz="1000" dirty="0" err="1"/>
              <a:t>Streamlit</a:t>
            </a:r>
            <a:r>
              <a:rPr lang="en-US" sz="1000" dirty="0"/>
              <a:t> App  (Dashboard · Ask </a:t>
            </a:r>
            <a:r>
              <a:rPr lang="en-US" sz="1000" dirty="0" err="1"/>
              <a:t>CoCo</a:t>
            </a:r>
            <a:r>
              <a:rPr lang="en-US" sz="1000" dirty="0"/>
              <a:t> · Governance)</a:t>
            </a:r>
          </a:p>
          <a:p>
            <a:pPr marL="285750" indent="-285750">
              <a:buFontTx/>
              <a:buChar char="-"/>
            </a:pPr>
            <a:endParaRPr lang="en-US" sz="1000" dirty="0"/>
          </a:p>
          <a:p>
            <a:r>
              <a:rPr lang="en-US" sz="1000" dirty="0"/>
              <a:t>Cross-cutting: Streams + Tasks + UDFs (orchestration) · DMFs + 6 DQ views (data quality) · Alerts (monitoring) · Metric definitions stored as data (governance)</a:t>
            </a:r>
          </a:p>
          <a:p>
            <a:endParaRPr lang="en-US" sz="1200" dirty="0"/>
          </a:p>
          <a:p>
            <a:r>
              <a:rPr lang="en-US" sz="1200" b="1" dirty="0"/>
              <a:t>How </a:t>
            </a:r>
            <a:r>
              <a:rPr lang="en-US" sz="1200" b="1" dirty="0" err="1"/>
              <a:t>CoCo</a:t>
            </a:r>
            <a:r>
              <a:rPr lang="en-US" sz="1200" b="1" dirty="0"/>
              <a:t> CLI was used (end to end, all 4 phases)</a:t>
            </a:r>
          </a:p>
          <a:p>
            <a:pPr marL="228600" indent="-228600">
              <a:buAutoNum type="arabicPeriod"/>
            </a:pPr>
            <a:r>
              <a:rPr lang="en-US" sz="1000" dirty="0"/>
              <a:t>Ontology &amp; source design — </a:t>
            </a:r>
            <a:r>
              <a:rPr lang="en-US" sz="1000" dirty="0" err="1"/>
              <a:t>CoCo</a:t>
            </a:r>
            <a:r>
              <a:rPr lang="en-US" sz="1000" dirty="0"/>
              <a:t> analyzed Marketplace datasets, defined entities/relationships/governed metrics and the 24-table canonical source layer</a:t>
            </a:r>
          </a:p>
          <a:p>
            <a:pPr marL="228600" indent="-228600">
              <a:buAutoNum type="arabicPeriod"/>
            </a:pPr>
            <a:r>
              <a:rPr lang="en-US" sz="1000" dirty="0"/>
              <a:t>Transformation layer — </a:t>
            </a:r>
            <a:r>
              <a:rPr lang="en-US" sz="1000" dirty="0" err="1"/>
              <a:t>CoCo</a:t>
            </a:r>
            <a:r>
              <a:rPr lang="en-US" sz="1000" dirty="0"/>
              <a:t> generated the </a:t>
            </a:r>
            <a:r>
              <a:rPr lang="en-US" sz="1000" dirty="0" err="1"/>
              <a:t>Bronze→Silver→Gold</a:t>
            </a:r>
            <a:r>
              <a:rPr lang="en-US" sz="1000" dirty="0"/>
              <a:t> Dynamic Tables, UDFs, streams, tasks, data-quality checks</a:t>
            </a:r>
          </a:p>
          <a:p>
            <a:pPr marL="228600" indent="-228600">
              <a:buAutoNum type="arabicPeriod"/>
            </a:pPr>
            <a:r>
              <a:rPr lang="en-US" sz="1000" dirty="0"/>
              <a:t>Semantic view — </a:t>
            </a:r>
            <a:r>
              <a:rPr lang="en-US" sz="1000" dirty="0" err="1"/>
              <a:t>CoCo</a:t>
            </a:r>
            <a:r>
              <a:rPr lang="en-US" sz="1000" dirty="0"/>
              <a:t> built SV_SUPPLY_CHAIN with governed definitions as metric descriptions + synonyms</a:t>
            </a:r>
          </a:p>
          <a:p>
            <a:pPr marL="228600" indent="-228600">
              <a:buAutoNum type="arabicPeriod"/>
            </a:pPr>
            <a:r>
              <a:rPr lang="en-US" sz="1000" dirty="0" err="1"/>
              <a:t>Streamlit</a:t>
            </a:r>
            <a:r>
              <a:rPr lang="en-US" sz="1000" dirty="0"/>
              <a:t> app — </a:t>
            </a:r>
            <a:r>
              <a:rPr lang="en-US" sz="1000" dirty="0" err="1"/>
              <a:t>CoCo</a:t>
            </a:r>
            <a:r>
              <a:rPr lang="en-US" sz="1000" dirty="0"/>
              <a:t> generated the 3-tab Cortex Analyst app and iteratively fixed every runtime issue to a working deploy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r>
              <a:rPr lang="en-US" sz="1000" b="1" dirty="0"/>
              <a:t>Data sources</a:t>
            </a:r>
          </a:p>
          <a:p>
            <a:r>
              <a:rPr lang="en-US" sz="1000" dirty="0"/>
              <a:t>Structured synthetic supply-chain data (deterministic, hash-seeded — fully reproducible), designed from Snowflake Marketplace dataset analysis.</a:t>
            </a:r>
          </a:p>
          <a:p>
            <a:r>
              <a:rPr lang="en-US" sz="1000" b="1" dirty="0"/>
              <a:t>Modular components</a:t>
            </a:r>
          </a:p>
          <a:p>
            <a:r>
              <a:rPr lang="en-US" sz="1000" dirty="0"/>
              <a:t>Each layer plugs into the next through Gold + the semantic view — new metrics, risk/ESG, forecasting, or a Cortex Agent all attach to the same governed foundation with no rework.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6556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7874100-6000-43b6-a204-2d77792600b9}" enabled="1" method="Standard" siteId="{f38a5ecd-2813-4862-b11b-ac1d563c806f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1069</Words>
  <Application>Microsoft Office PowerPoint</Application>
  <PresentationFormat>On-screen Show (16:9)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Manrope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Dhanushree Soni</cp:lastModifiedBy>
  <cp:revision>9</cp:revision>
  <dcterms:modified xsi:type="dcterms:W3CDTF">2026-09-28T16:21:33Z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Light:5</vt:lpwstr>
  </property>
  <property fmtid="{D5CDD505-2E9C-101B-9397-08002B2CF9AE}" pid="3" name="ClassificationContentMarkingFooterText">
    <vt:lpwstr>Micron Confidential</vt:lpwstr>
  </property>
  <property fmtid="{D5CDD505-2E9C-101B-9397-08002B2CF9AE}" pid="4" name="ClassificationContentMarkingHeaderLocations">
    <vt:lpwstr>Simple Light:4</vt:lpwstr>
  </property>
  <property fmtid="{D5CDD505-2E9C-101B-9397-08002B2CF9AE}" pid="5" name="ClassificationContentMarkingHeaderText">
    <vt:lpwstr>Micron Confidential</vt:lpwstr>
  </property>
</Properties>
</file>