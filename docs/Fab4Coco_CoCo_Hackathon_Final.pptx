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D29EC7B3-F5EB-8B53-51A8-5B736812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>
            <a:extLst>
              <a:ext uri="{FF2B5EF4-FFF2-40B4-BE49-F238E27FC236}">
                <a16:creationId xmlns:a16="http://schemas.microsoft.com/office/drawing/2014/main" id="{E48B684A-2089-5AED-4074-FF9E93C43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>
            <a:extLst>
              <a:ext uri="{FF2B5EF4-FFF2-40B4-BE49-F238E27FC236}">
                <a16:creationId xmlns:a16="http://schemas.microsoft.com/office/drawing/2014/main" id="{F5E76499-0328-0748-0CB6-AA82FDA45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291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201CF5E7-A96A-223F-2A36-A48F31EF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>
            <a:extLst>
              <a:ext uri="{FF2B5EF4-FFF2-40B4-BE49-F238E27FC236}">
                <a16:creationId xmlns:a16="http://schemas.microsoft.com/office/drawing/2014/main" id="{99195AFF-BD18-2FDB-9EED-0AA28C4FF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>
            <a:extLst>
              <a:ext uri="{FF2B5EF4-FFF2-40B4-BE49-F238E27FC236}">
                <a16:creationId xmlns:a16="http://schemas.microsoft.com/office/drawing/2014/main" id="{0819352C-17CE-847A-8754-AE7662CEB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864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EC684-E76A-FF7C-D6CA-3696C1CDE3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6F596-D65D-BD3E-9016-FBA6DAD3AC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89712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Fab4Coco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7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Supply Chain Ontology &amp; Governed Conversational Analytics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Dhanushree Soni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4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Rectangle 63"/>
          <p:cNvSpPr/>
          <p:nvPr/>
        </p:nvSpPr>
        <p:spPr>
          <a:xfrm>
            <a:off x="484631" y="557784"/>
            <a:ext cx="5819915" cy="310896"/>
          </a:xfrm>
          <a:prstGeom prst="rect">
            <a:avLst/>
          </a:prstGeom>
          <a:solidFill>
            <a:srgbClr val="D5EAF8"/>
          </a:solidFill>
          <a:ln>
            <a:solidFill>
              <a:srgbClr val="BED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02729"/>
                </a:solidFill>
              </a:defRPr>
            </a:pPr>
            <a:r>
              <a:rPr dirty="0"/>
              <a:t>One Question. One Definition. One Answer.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3652"/>
                </a:solidFill>
              </a:defRPr>
            </a:pPr>
            <a:r>
              <a:t>Different personas. Different wording. The same governed result.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1600200"/>
            <a:ext cx="2514600" cy="150876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Planning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“What was our on-time delivery performance?”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10128" y="1600200"/>
            <a:ext cx="2514600" cy="150876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E8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E88126"/>
                </a:solidFill>
              </a:defRPr>
            </a:pPr>
            <a:r>
              <a:t>Procurement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“How reliably did our suppliers deliver?”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17336" y="1600200"/>
            <a:ext cx="2514600" cy="150876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25965B"/>
                </a:solidFill>
              </a:defRPr>
            </a:pPr>
            <a:r>
              <a:t>Logistics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“What percentage of due lines arrived on time?”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316382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97D6"/>
                </a:solidFill>
              </a:defRPr>
            </a:pPr>
            <a:r>
              <a:t>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74519" y="3566160"/>
            <a:ext cx="5394960" cy="777240"/>
          </a:xfrm>
          <a:prstGeom prst="roundRect">
            <a:avLst/>
          </a:prstGeom>
          <a:solidFill>
            <a:srgbClr val="0C3652"/>
          </a:solidFill>
          <a:ln>
            <a:solidFill>
              <a:srgbClr val="36C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74.26% OTD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Same Gold metric • Same semantic definition • Same filter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Rectangle 69"/>
          <p:cNvSpPr/>
          <p:nvPr/>
        </p:nvSpPr>
        <p:spPr>
          <a:xfrm>
            <a:off x="484632" y="557784"/>
            <a:ext cx="4480560" cy="310896"/>
          </a:xfrm>
          <a:prstGeom prst="rect">
            <a:avLst/>
          </a:prstGeom>
          <a:solidFill>
            <a:srgbClr val="D5EAF8"/>
          </a:solidFill>
          <a:ln>
            <a:solidFill>
              <a:srgbClr val="BED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02729"/>
                </a:solidFill>
              </a:defRPr>
            </a:pPr>
            <a:r>
              <a:t>Problem Brief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1024128"/>
            <a:ext cx="3977639" cy="141732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E8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E88126"/>
                </a:solidFill>
              </a:defRPr>
            </a:pPr>
            <a:r>
              <a:t>The problem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The same OTD question produces different answers across teams.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Analyst tickets and custom SQL delay decisions.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09160" y="1024128"/>
            <a:ext cx="3977639" cy="141732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Who needs it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Planning, Procurement, Logistics and Finance users.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Data teams that need governed, auditable metrics.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2651760"/>
            <a:ext cx="3977639" cy="141732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25965B"/>
                </a:solidFill>
              </a:defRPr>
            </a:pPr>
            <a:r>
              <a:t>Our solution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One governed ontology and one sanctioned definition per metric.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Natural-language answers with SQL, lineage and definitions.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09160" y="2651760"/>
            <a:ext cx="3977639" cy="141732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0C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0C3652"/>
                </a:solidFill>
              </a:defRPr>
            </a:pPr>
            <a:r>
              <a:t>Canonical supply-chain flow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Supplier → Part → Plant → Order → Shipment → Customer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Supports traceability, impact analysis, quality and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5987EE-235F-05FC-169E-21964753E0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78" b="17260"/>
          <a:stretch>
            <a:fillRect/>
          </a:stretch>
        </p:blipFill>
        <p:spPr>
          <a:xfrm>
            <a:off x="0" y="644980"/>
            <a:ext cx="9144000" cy="4035735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777240" y="4498520"/>
            <a:ext cx="7589520" cy="411480"/>
          </a:xfrm>
          <a:prstGeom prst="roundRect">
            <a:avLst/>
          </a:prstGeom>
          <a:solidFill>
            <a:srgbClr val="0C3652"/>
          </a:solidFill>
          <a:ln>
            <a:solidFill>
              <a:srgbClr val="36C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Knowledge Graph  •  Data Quality / DMFs  •  Jira MCP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Rectangle 79"/>
          <p:cNvSpPr/>
          <p:nvPr/>
        </p:nvSpPr>
        <p:spPr>
          <a:xfrm>
            <a:off x="484632" y="557784"/>
            <a:ext cx="4480560" cy="310896"/>
          </a:xfrm>
          <a:prstGeom prst="rect">
            <a:avLst/>
          </a:prstGeom>
          <a:solidFill>
            <a:srgbClr val="D5EAF8"/>
          </a:solidFill>
          <a:ln>
            <a:solidFill>
              <a:srgbClr val="BED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02729"/>
                </a:solidFill>
              </a:defRPr>
            </a:pPr>
            <a:r>
              <a:t>Architecture &amp; CoCo CLI Usage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9601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3652"/>
                </a:solidFill>
              </a:defRPr>
            </a:pPr>
            <a:r>
              <a:t>Governed flow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1298448"/>
            <a:ext cx="1261872" cy="987552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SOURCE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24 tables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1.03M rows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27631" y="159105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77"/>
                </a:solidFill>
              </a:defRPr>
            </a:pPr>
            <a:r>
              <a:t>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810512" y="1298448"/>
            <a:ext cx="1261872" cy="987552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36C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36CCE5"/>
                </a:solidFill>
              </a:defRPr>
            </a:pPr>
            <a:r>
              <a:t>BRONZE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24 Dynamic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Tables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72384" y="159105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77"/>
                </a:solidFill>
              </a:defRPr>
            </a:pPr>
            <a: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55264" y="1298448"/>
            <a:ext cx="1261872" cy="987552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25965B"/>
                </a:solidFill>
              </a:defRPr>
            </a:pPr>
            <a:r>
              <a:t>SILVER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18 conformed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objects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17136" y="159105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77"/>
                </a:solidFill>
              </a:defRPr>
            </a:pPr>
            <a:r>
              <a:t>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00016" y="1298448"/>
            <a:ext cx="1261872" cy="987552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E8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E88126"/>
                </a:solidFill>
              </a:defRPr>
            </a:pPr>
            <a:r>
              <a:t>GOLD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Governed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metrics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61888" y="159105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77"/>
                </a:solidFill>
              </a:defRPr>
            </a:pPr>
            <a:r>
              <a:t>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44768" y="1298448"/>
            <a:ext cx="1261872" cy="987552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0C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0C3652"/>
                </a:solidFill>
              </a:defRPr>
            </a:pPr>
            <a:r>
              <a:t>SEMANTIC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SV_SUPPLY_CHAIN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06640" y="159105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77"/>
                </a:solidFill>
              </a:defRPr>
            </a:pPr>
            <a:r>
              <a:t>→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89520" y="1298448"/>
            <a:ext cx="1261872" cy="987552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EXPERIENCE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Streamlit +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Cortex Analyst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" y="248716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3652"/>
                </a:solidFill>
              </a:defRPr>
            </a:pPr>
            <a:r>
              <a:t>Implemented cross-cutting capabilities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2816352"/>
            <a:ext cx="1920240" cy="102412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0C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0C3652"/>
                </a:solidFill>
              </a:defRPr>
            </a:pPr>
            <a:r>
              <a:t>Knowledge Graph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Supplier → Part → Plant → Order → Shipment → Customer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542032" y="2816352"/>
            <a:ext cx="1920240" cy="102412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25965B"/>
                </a:solidFill>
              </a:defRPr>
            </a:pPr>
            <a:r>
              <a:t>Data Quality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DMFs + governed validation views + freshness checks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626864" y="2816352"/>
            <a:ext cx="1920240" cy="102412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E8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E88126"/>
                </a:solidFill>
              </a:defRPr>
            </a:pPr>
            <a:r>
              <a:t>Jira MCP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Dry-run alert payloads, deduplication and operational action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711696" y="2816352"/>
            <a:ext cx="1920240" cy="102412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Orchestration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Streams + Tasks + UDFs + Dynamic Tables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4041648"/>
            <a:ext cx="8138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729"/>
                </a:solidFill>
              </a:defRPr>
            </a:pPr>
            <a:r>
              <a:t>CoCo CLI was used end to end for discovery, ontology and source design, SQL generation, transformation development, semantic modeling, Streamlit development, knowledge-graph implementation, debugging, testing and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5D837445-C663-0D47-7649-25462752FDF0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79" name="Google Shape;79;p17" title="Framewsxexexe 233.png">
            <a:extLst>
              <a:ext uri="{FF2B5EF4-FFF2-40B4-BE49-F238E27FC236}">
                <a16:creationId xmlns:a16="http://schemas.microsoft.com/office/drawing/2014/main" id="{E4F246BC-BA52-DB3A-9365-46F9F5A1F3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Rectangle 79"/>
          <p:cNvSpPr/>
          <p:nvPr/>
        </p:nvSpPr>
        <p:spPr>
          <a:xfrm>
            <a:off x="484632" y="557784"/>
            <a:ext cx="4480560" cy="310896"/>
          </a:xfrm>
          <a:prstGeom prst="rect">
            <a:avLst/>
          </a:prstGeom>
          <a:solidFill>
            <a:srgbClr val="D5EAF8"/>
          </a:solidFill>
          <a:ln>
            <a:solidFill>
              <a:srgbClr val="BED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02729"/>
                </a:solidFill>
              </a:defRPr>
            </a:pPr>
            <a:r>
              <a:t>Impact &amp; Results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1024128"/>
            <a:ext cx="2560320" cy="123444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74.26% governed OTD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One consistent result across Planning, Procurement and Logistics personas.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91840" y="1024128"/>
            <a:ext cx="2560320" cy="123444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25965B"/>
                </a:solidFill>
              </a:defRPr>
            </a:pPr>
            <a:r>
              <a:t>42 / 42 DQ checks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Checks cover business rules, completeness, uniqueness, referential integrity and freshness.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1024128"/>
            <a:ext cx="2560320" cy="123444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E8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E88126"/>
                </a:solidFill>
              </a:defRPr>
            </a:pPr>
            <a:r>
              <a:t>Self-service analytics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Natural language → governed answer + SQL + chart + definition.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2542032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3652"/>
                </a:solidFill>
              </a:defRPr>
            </a:pPr>
            <a:r>
              <a:t>Why it matters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2880360"/>
            <a:ext cx="2560320" cy="109728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0C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0C3652"/>
                </a:solidFill>
              </a:defRPr>
            </a:pPr>
            <a:r>
              <a:t>Trusted decisions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Business teams use shared definitions instead of reconciling competing numbers.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91840" y="2880360"/>
            <a:ext cx="2560320" cy="109728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Connected impact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Knowledge-graph traversal links an exception to affected entities.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26480" y="2880360"/>
            <a:ext cx="2560320" cy="1097280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25965B"/>
                </a:solidFill>
              </a:defRPr>
            </a:pPr>
            <a:r>
              <a:t>Governed action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Validated alerts flow to Jira MCP with deduplication and safe dry-run.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41879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C77"/>
                </a:solidFill>
              </a:defRPr>
            </a:pPr>
            <a:r>
              <a:t>Scalable foundation: Snowflake-native layers and modular components support extension to live ERP or Marketplace data without redesign.</a:t>
            </a:r>
          </a:p>
        </p:txBody>
      </p:sp>
    </p:spTree>
    <p:extLst>
      <p:ext uri="{BB962C8B-B14F-4D97-AF65-F5344CB8AC3E}">
        <p14:creationId xmlns:p14="http://schemas.microsoft.com/office/powerpoint/2010/main" val="607800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5ACE9C89-973E-0F3F-995E-751E293F346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79" name="Google Shape;79;p17" title="Framewsxexexe 233.png">
            <a:extLst>
              <a:ext uri="{FF2B5EF4-FFF2-40B4-BE49-F238E27FC236}">
                <a16:creationId xmlns:a16="http://schemas.microsoft.com/office/drawing/2014/main" id="{8E464230-E9EC-B80A-F99A-409F54ED51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Rectangle 79"/>
          <p:cNvSpPr/>
          <p:nvPr/>
        </p:nvSpPr>
        <p:spPr>
          <a:xfrm>
            <a:off x="484632" y="557784"/>
            <a:ext cx="4480560" cy="310896"/>
          </a:xfrm>
          <a:prstGeom prst="rect">
            <a:avLst/>
          </a:prstGeom>
          <a:solidFill>
            <a:srgbClr val="D5EAF8"/>
          </a:solidFill>
          <a:ln>
            <a:solidFill>
              <a:srgbClr val="BED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02729"/>
                </a:solidFill>
              </a:defRPr>
            </a:pPr>
            <a:r>
              <a:t>Three-Minute Demo Story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1078992"/>
            <a:ext cx="2468880" cy="111556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E8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E88126"/>
                </a:solidFill>
              </a:defRPr>
            </a:pPr>
            <a:r>
              <a:t>1. Problem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Different teams produce different answers.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91839" y="1078992"/>
            <a:ext cx="2468880" cy="111556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0C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0C3652"/>
                </a:solidFill>
              </a:defRPr>
            </a:pPr>
            <a:r>
              <a:t>2. Govern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One ontology and one metric definition.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080759" y="1078992"/>
            <a:ext cx="2468880" cy="111556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199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1997D6"/>
                </a:solidFill>
              </a:defRPr>
            </a:pPr>
            <a:r>
              <a:t>3. Ask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Three personas ask OTD differently.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2560320"/>
            <a:ext cx="2468880" cy="111556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25965B"/>
                </a:solidFill>
              </a:defRPr>
            </a:pPr>
            <a:r>
              <a:t>4. Trace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Knowledge graph shows connected impact.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91839" y="2560320"/>
            <a:ext cx="2468880" cy="111556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36C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36CCE5"/>
                </a:solidFill>
              </a:defRPr>
            </a:pPr>
            <a:r>
              <a:t>5. Validate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DMFs and checks confirm trust.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80759" y="2560320"/>
            <a:ext cx="2468880" cy="1115568"/>
          </a:xfrm>
          <a:prstGeom prst="roundRect">
            <a:avLst/>
          </a:prstGeom>
          <a:solidFill>
            <a:srgbClr val="F1F8FC"/>
          </a:solidFill>
          <a:ln w="19050">
            <a:solidFill>
              <a:srgbClr val="E8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82296" rIns="118872" rtlCol="0" anchor="ctr"/>
          <a:lstStyle/>
          <a:p>
            <a:pPr algn="ctr">
              <a:defRPr sz="1400" b="1">
                <a:solidFill>
                  <a:srgbClr val="E88126"/>
                </a:solidFill>
              </a:defRPr>
            </a:pPr>
            <a:r>
              <a:t>6. Act</a:t>
            </a:r>
          </a:p>
          <a:p>
            <a:pPr>
              <a:spcAft>
                <a:spcPts val="200"/>
              </a:spcAft>
              <a:defRPr sz="1050">
                <a:solidFill>
                  <a:srgbClr val="202729"/>
                </a:solidFill>
              </a:defRPr>
            </a:pPr>
            <a:r>
              <a:t>Jira MCP proposes a governed action.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3652"/>
                </a:solidFill>
              </a:defRPr>
            </a:pPr>
            <a:r>
              <a:t>One ontology. One definition. One trusted answer. From insight to action.</a:t>
            </a:r>
          </a:p>
        </p:txBody>
      </p:sp>
    </p:spTree>
    <p:extLst>
      <p:ext uri="{BB962C8B-B14F-4D97-AF65-F5344CB8AC3E}">
        <p14:creationId xmlns:p14="http://schemas.microsoft.com/office/powerpoint/2010/main" val="66556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7874100-6000-43b6-a204-2d77792600b9}" enabled="1" method="Standard" siteId="{f38a5ecd-2813-4862-b11b-ac1d563c806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492</Words>
  <Application>Microsoft Office PowerPoint</Application>
  <PresentationFormat>On-screen Show (16:9)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Amulya Billa</dc:creator>
  <cp:lastModifiedBy>Amulya Billa</cp:lastModifiedBy>
  <cp:revision>10</cp:revision>
  <dcterms:created xsi:type="dcterms:W3CDTF">2026-09-29T08:50:00Z</dcterms:created>
  <dcterms:modified xsi:type="dcterms:W3CDTF">2026-09-29T08:52:56Z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Light:5</vt:lpwstr>
  </property>
  <property fmtid="{D5CDD505-2E9C-101B-9397-08002B2CF9AE}" pid="3" name="ClassificationContentMarkingFooterText">
    <vt:lpwstr>Micron Confidential</vt:lpwstr>
  </property>
  <property fmtid="{D5CDD505-2E9C-101B-9397-08002B2CF9AE}" pid="4" name="ClassificationContentMarkingHeaderLocations">
    <vt:lpwstr>Simple Light:4</vt:lpwstr>
  </property>
  <property fmtid="{D5CDD505-2E9C-101B-9397-08002B2CF9AE}" pid="5" name="ClassificationContentMarkingHeaderText">
    <vt:lpwstr>Micron Confidential</vt:lpwstr>
  </property>
</Properties>
</file>